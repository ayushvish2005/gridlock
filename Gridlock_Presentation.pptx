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7200">
                <a:solidFill>
                  <a:srgbClr val="3B82F6"/>
                </a:solidFill>
              </a:defRPr>
            </a:pPr>
            <a:r>
              <a:t>GRIDLOCK</a:t>
            </a:r>
          </a:p>
          <a:p>
            <a:pPr algn="ctr">
              <a:defRPr sz="3200">
                <a:solidFill>
                  <a:srgbClr val="E2E8F0"/>
                </a:solidFill>
              </a:defRPr>
            </a:pPr>
            <a:r>
              <a:t>AI-Powered Autonomous Traffic Operations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EF4444"/>
                </a:solidFill>
              </a:defRPr>
            </a:pPr>
            <a:r>
              <a:t>The Urban Traffic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CBD5E1"/>
                </a:solidFill>
              </a:defRPr>
            </a:pPr>
            <a:r>
              <a:t>• Reactive Operations: City traffic police currently react to chaos after it happens, guessing how many officers to dispatch.</a:t>
            </a:r>
          </a:p>
          <a:p>
            <a:pPr>
              <a:spcAft>
                <a:spcPts val="2000"/>
              </a:spcAft>
              <a:defRPr sz="2800">
                <a:solidFill>
                  <a:srgbClr val="CBD5E1"/>
                </a:solidFill>
              </a:defRPr>
            </a:pPr>
            <a:r>
              <a:t>• The Balloon Effect: Closing roads blindly simply forces traffic into narrower side streets, causing secondary gridlocks.</a:t>
            </a:r>
          </a:p>
          <a:p>
            <a:pPr>
              <a:defRPr sz="2800">
                <a:solidFill>
                  <a:srgbClr val="CBD5E1"/>
                </a:solidFill>
              </a:defRPr>
            </a:pPr>
            <a:r>
              <a:t>• Resource Exhaustion: In large cities, physical resources (officers and barricades) are finite and quickly depleted during concurrent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3B82F6"/>
                </a:solidFill>
              </a:defRPr>
            </a:pPr>
            <a:r>
              <a:t>The Gridlock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800">
                <a:solidFill>
                  <a:srgbClr val="F97316"/>
                </a:solidFill>
              </a:defRPr>
            </a:pPr>
            <a:r>
              <a:t>1. Predictive Machine Learning Engine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</a:defRPr>
            </a:pPr>
            <a:r>
              <a:t>   Random Forest Regressor trained on anonymized historical Astram data to forecast severity and expected delays.</a:t>
            </a:r>
          </a:p>
          <a:p>
            <a:pPr>
              <a:defRPr b="1" sz="2800">
                <a:solidFill>
                  <a:srgbClr val="A855F7"/>
                </a:solidFill>
              </a:defRPr>
            </a:pPr>
            <a:r>
              <a:t>2. Tactical Graph Routing (OSMnx + NetworkX)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</a:defRPr>
            </a:pPr>
            <a:r>
              <a:t>   Autonomously computes optimal multi-directional diversion routes using real-world Bengaluru street networks.</a:t>
            </a:r>
          </a:p>
          <a:p>
            <a:pPr>
              <a:defRPr b="1" sz="2800">
                <a:solidFill>
                  <a:srgbClr val="22C55E"/>
                </a:solidFill>
              </a:defRPr>
            </a:pPr>
            <a:r>
              <a:t>3. Global Resource Optimizer (Linear Programming)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   Uses PuLP/CBC solvers to mathematically distribute finite police officers across the city based on impact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F59E0B"/>
                </a:solidFill>
              </a:defRPr>
            </a:pPr>
            <a:r>
              <a:t>Real-World Operational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E2E8F0"/>
                </a:solidFill>
              </a:defRPr>
            </a:pPr>
            <a:r>
              <a:t>• AI Traffic Copilot: Operators can chat directly with an LLM that ingests live scenario telemetry, explaining deployment strategy in plain English.</a:t>
            </a:r>
          </a:p>
          <a:p>
            <a:pPr>
              <a:spcAft>
                <a:spcPts val="2000"/>
              </a:spcAft>
              <a:defRPr sz="2400">
                <a:solidFill>
                  <a:srgbClr val="E2E8F0"/>
                </a:solidFill>
              </a:defRPr>
            </a:pPr>
            <a:r>
              <a:t>• "What-If" Simulators: City planners can test crowd sizes (10k vs 50k attendees) side-by-side to visualize risk deltas.</a:t>
            </a:r>
          </a:p>
          <a:p>
            <a:pPr>
              <a:spcAft>
                <a:spcPts val="4000"/>
              </a:spcAft>
              <a:defRPr sz="2400">
                <a:solidFill>
                  <a:srgbClr val="E2E8F0"/>
                </a:solidFill>
              </a:defRPr>
            </a:pPr>
            <a:r>
              <a:t>• Post-Event Learning Loop: The system records actual variance (predictions vs reality) to continually trigger background model recalibration.</a:t>
            </a:r>
          </a:p>
          <a:p>
            <a:pPr algn="ctr">
              <a:defRPr b="1" sz="3600">
                <a:solidFill>
                  <a:srgbClr val="3B82F6"/>
                </a:solidFill>
              </a:defRPr>
            </a:pPr>
            <a:r>
              <a:t>Proactive, Mathematical, Autonomous.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